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k3quLwjf8TGDHE2H634Myt7iI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5d18c0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95d18c0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Session 5 as a fresh section — a warm welcome, no long intro. Key points: welcome back; in Session 4 you learned to bundle data with behaviour and met the data stack — today you go deep on NumPy, the engine underneath all of it, and learn to think in whole arrays instead of loops. Time: ~1 min. Notebook: Session Overview. Classroom question: 'In one word, what did NumPy feel like when you first saw it in Session 4?' Transition: a 60-second recap, then straight into why NumPy exists.</a:t>
            </a:r>
            <a:endParaRPr/>
          </a:p>
        </p:txBody>
      </p:sp>
      <p:sp>
        <p:nvSpPr>
          <p:cNvPr id="14" name="Google Shape;14;g3f95d18c0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reactivate Session 5 in under a minute and take a homework pulse — do NOT re-teach. Key points: arrays hold values in a grid; indexing and slicing reach in by position; boolean masks keep what passes a condition; aggregation summarises with sum/mean and axis; the bridge — a pandas column IS a NumPy array with a label, so everything from last week still works. Quick poll on the Session-5 repo. Time: ~2 min. Notebook: Prerequisites. Classroom question: 'Who pushed their Session-5 repo?' Transition: so what do labels buy us?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show today's destination in one glance. Key points: six capabilities from 'load a CSV' to 'merge two tables'; each maps to a chapter and a live-coding block; frame as a checklist we tick together. Time: ~2 min. Notebook: Learning Objectives. Classroom question: 'Which of these sounds most like your day job?' Transition: start with the why — what's wrong with plain arrays?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motivate pandas by feeling the pain of unlabelled arrays. Key points: with a raw array you must remember what column 2 means — employment? population? — and one wrong guess silently ruins the analysis; a DataFrame carries the column names with the data, so you ask for employment_rate by name; DataFrames also hold mixed types — text regions beside numeric budgets, which one NumPy array cannot do. Walk both panels aloud. Time: ~3 min. Notebook: Section 1 intro. Discussion question: 'Where did you have to count columns by hand last week?' Transition: chapter 1 — load a table and get your bearings.</a:t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1. Key points: this block is about loading a table and getting your bearings — read_csv, head, info, describe. Time: ~30 sec. Notebook: Section 1. Transition: what exactly is a DataFrame?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define the two core objects. Key points: the DataFrame is the whole table — rows plus named columns; pull one column out and you get a Series, which keeps its index; each column has its own type, so text and numbers live side by side in one table. Time: ~4 min. Notebook: Section 1. Classroom question: 'What do you get if you pull one column out of a spreadsheet?' Transition: where does the table come from? A file.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read_csv and the first sanity check. Key points: read_csv turns a file into a DataFrame in one call — the first row becomes the column names automatically; always check .shape first — (51, 5) means 51 rows, 5 columns; unlike np.loadtxt, read_csv handles text columns and missing values without complaint. Time: ~4 min. Notebook: Section 1 (session6_policy_data.csv). Classroom question: 'What did loadtxt do when it hit text last week?' Transition: the table is in — now look around it.</a:t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four get-oriented commands. Key points: head shows the first five rows, tail the last five; info lists every column with its type and non-null count — this is where missing data shows itself, here budget_million has fewer non-null values; describe gives count/mean/min/max for every numeric column. Run all four on every new dataset before doing anything else. Time: ~4 min. Notebook: Section 1. Classroom question: 'Which command would spot a column loaded as text by mistake?' Transition: switch to the notebook and load it live.</a:t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switch to the notebook for hands-on loading and exploring. Key points: upload the CSV to Colab; read_csv; run head/info/describe; find the missing budgets with info; do the Practice cell together. Time: ~10 min. Notebook: Section 1 — DataFrames &amp; Loading. Classroom question: 'Before you run info — which column do you bet has gaps?' Transition: back to slides for selecting.</a:t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column selection and the single/double bracket distinction. Key points: single brackets with one name give a Series; double brackets — really a list inside the brackets — give a DataFrame, and let you pull several columns at once; the bracket style decides the type you get back. Time: ~4 min. Notebook: Section 2. Classroom question: 'What type does df[["region"]] give — Series or DataFrame?' Transition: columns done — now rows, with loc and iloc.</a:t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two row-selection tools and when each applies. Key points: loc selects by label — index values and column names — and its slices are end-inclusive; iloc selects by 0-based position, exactly like NumPy, end-exclusive; both take [row, column]; here the default index is 0-based numbers, so the two can look the same — that's the trap the next slide springs. Time: ~5 min. Notebook: Section 2. Classroom question: 'Which one behaves like last week's array indexing?' Transition: predict a result before we run it.</a:t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active retrieval on loc vs iloc. Key points: give 30 seconds; both lines return 92.3 — but only because this DataFrame's index happens to be the default 0-based numbers, so label 0 and position 0 are the same row; if the index were region names, loc[0] would fail. Reveal only after they commit. Time: ~2 min. Notebook: Practice — Predict the Output (Selecting). Classroom question: 'When would these two stop agreeing?' Transition: practise selecting in the notebook.</a:t>
            </a:r>
            <a:endParaRPr/>
          </a:p>
        </p:txBody>
      </p:sp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column and row selection. Key points: open Section 2; select single and multiple columns; loc by label; iloc by position; do the Practice cell together. Time: ~10 min. Notebook: Section 2 — Selecting. Classroom question: 'Predict the type of each result before you run it — Series or DataFrame?' Transition: back to slides — real data is messy.</a:t>
            </a:r>
            <a:endParaRPr/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2. Key points: real data is messy — this block filters rows, then fixes missing values, duplicates and inconsistent text. Time: ~30 sec. Notebook: Sections 3 &amp; 4. Transition: start with filtering.</a:t>
            </a:r>
            <a:endParaRPr/>
          </a:p>
        </p:txBody>
      </p:sp>
      <p:sp>
        <p:nvSpPr>
          <p:cNvPr id="304" name="Google Shape;30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boolean filtering on a DataFrame. Key points: exactly the Session-5 mask idea — a condition on a column makes True/False per row, and passing it back keeps the True rows; combine conditions with &amp; and |, never Python's and/or, and wrap each condition in parentheses because of operator precedence. Time: ~5 min. Notebook: Section 3. Classroom question: 'What breaks if you forget the parentheses?' Transition: filtering keeps rows — cleaning fixes them, starting with missing values.</a:t>
            </a:r>
            <a:endParaRPr/>
          </a:p>
        </p:txBody>
      </p:sp>
      <p:sp>
        <p:nvSpPr>
          <p:cNvPr id="317" name="Google Shape;3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detect → fill → drop workflow for NaN. Key points: isna().sum() counts gaps per column — run it before deciding anything; fillna replaces gaps with a chosen value, usually the column's mean or median; dropna removes any row with a gap — use with care, it can throw away good data in other columns; remember to reassign the result. Time: ~5 min. Notebook: Section 4. Classroom question: 'When would dropping a row be worse than filling it?' Transition: gaps fixed — now duplicates and messy text.</a:t>
            </a:r>
            <a:endParaRPr/>
          </a:p>
        </p:txBody>
      </p:sp>
      <p:sp>
        <p:nvSpPr>
          <p:cNvPr id="336" name="Google Shape;3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dedup and text cleaning. Key points: duplicated().sum() counts repeated rows — here 1; drop_duplicates removes the copies, and it must happen before any totals or the numbers double-count; the .str toolkit runs strip/lower/title across a whole text column at once — ' north ' and 'NORTH' collapse into 'North'; astype changes a column's type when numbers loaded as text. Time: ~5 min. Notebook: Section 4. Classroom question: 'What happens to a regional total if one district appears twice?' Transition: filter and clean live in the notebook.</a:t>
            </a:r>
            <a:endParaRPr/>
          </a:p>
        </p:txBody>
      </p:sp>
      <p:sp>
        <p:nvSpPr>
          <p:cNvPr id="360" name="Google Shape;3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filtering and cleaning. Key points: open Sections 3 &amp; 4; filter with single and combined conditions; count missing with isna().sum(); fill the budget gaps; drop the duplicate row; clean the region text with .str.strip().str.title(); do the Practice cells. Time: ~12 min. Notebook: Sections 3 · Filtering · 4 · Cleaning. Classroom question: 'How many rows survive the combined filter — guess first.' Transition: one prediction before we group.</a:t>
            </a:r>
            <a:endParaRPr/>
          </a:p>
        </p:txBody>
      </p:sp>
      <p:sp>
        <p:nvSpPr>
          <p:cNvPr id="383" name="Google Shape;3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prediction drill showing why text cleaning matters for counting. Key points: give 30 seconds; before cleaning, nunique sees 6 distinct region strings because 'north ' with a trailing space counts separately from 'North'; after strip + title the stray collapses in and only 5 remain; the lesson — clean text BEFORE counting or grouping. Reveal after they commit. Time: ~2 min. Notebook: Practice — Think Before You Code (Cleaning). Classroom question: '6 or 5 — and which row is the impostor?' Transition: chapter 3 — turning rows into answers.</a:t>
            </a:r>
            <a:endParaRPr/>
          </a:p>
        </p:txBody>
      </p:sp>
      <p:sp>
        <p:nvSpPr>
          <p:cNvPr id="402" name="Google Shape;40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3. Key points: this is where tables start answering questions — group rows into summaries, and join two tables on a shared key. Time: ~30 sec. Notebook: Sections 5 &amp; 6. Transition: groupby first.</a:t>
            </a:r>
            <a:endParaRPr/>
          </a:p>
        </p:txBody>
      </p:sp>
      <p:sp>
        <p:nvSpPr>
          <p:cNvPr id="423" name="Google Shape;4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split-apply-combine mental model. Key points: groupby splits the rows into one bucket per region; the aggregation applies to each bucket separately; the results combine into one small table, one row per group; sort_values orders the answer; for Excel users — this is the pandas PivotTable. Time: ~5 min. Notebook: Section 5. Classroom question: 'What would you group your own data by?' Transition: what if you want two summaries at once?</a:t>
            </a:r>
            <a:endParaRPr/>
          </a:p>
        </p:txBody>
      </p:sp>
      <p:sp>
        <p:nvSpPr>
          <p:cNvPr id="436" name="Google Shape;4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named aggregations with .agg. Key points: .agg computes several summaries in one pass — each keyword names the output column, and the tuple says which input column and which function; reset_index turns the group key back into an ordinary column so the result is a clean flat table ready for a report or a merge. Time: ~4 min. Notebook: Section 5. Classroom question: 'What two summaries would a budget desk want per region?' Transition: predict a groupby result before we run one.</a:t>
            </a:r>
            <a:endParaRPr/>
          </a:p>
        </p:txBody>
      </p:sp>
      <p:sp>
        <p:nvSpPr>
          <p:cNvPr id="461" name="Google Shape;46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check the split-apply-combine model landed. Key points: give 30 seconds; the toy table has 4 rows but only 2 regions — groupby collapses each region's rows into one, so the result has 2 rows: East (80+90)/2 = 85, West (70+60)/2 = 65; the key insight is that groupby changes the number of rows. Reveal after commitment. Time: ~2 min. Notebook: Practice — Predict the Output (GroupBy). Classroom question: 'How many rows — before you compute a single mean?' Transition: the second half of the chapter — merge.</a:t>
            </a:r>
            <a:endParaRPr/>
          </a:p>
        </p:txBody>
      </p:sp>
      <p:sp>
        <p:nvSpPr>
          <p:cNvPr id="480" name="Google Shape;4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merging two tables on a key. Key points: pd.merge lines up rows that share the key column — on names it; how='left' keeps every row of the left table even without a match; unmatched rows show NaN in the new columns, visible rather than silently dropped; for Excel users this is VLOOKUP, but for the whole table at once. Time: ~5 min. Notebook: Section 6 (the region lookup table). Classroom question: 'What would how="inner" do to the unmatched rows?' Transition: group and merge live.</a:t>
            </a:r>
            <a:endParaRPr/>
          </a:p>
        </p:txBody>
      </p:sp>
      <p:sp>
        <p:nvSpPr>
          <p:cNvPr id="512" name="Google Shape;5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grouping and merging. Key points: open Sections 5 &amp; 6; average employment by region; .agg with two named summaries; read the lookup table; left-merge onto the main table and inspect the NaNs; do the Practice cells. Time: ~12 min. Notebook: Sections 5 · GroupBy · 6 · Merge. Classroom question: 'Predict the merged shape before you run it.' Transition: the final chapter puts the whole loop together.</a:t>
            </a:r>
            <a:endParaRPr/>
          </a:p>
        </p:txBody>
      </p:sp>
      <p:sp>
        <p:nvSpPr>
          <p:cNvPr id="538" name="Google Shape;53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the final chapter. Key points: everything so far was one tool at a time — now the whole loop runs on one real dataset, load to verdict. Time: ~30 sec. Notebook: Section 7. Transition: the five steps of the mini analysis.</a:t>
            </a:r>
            <a:endParaRPr/>
          </a:p>
        </p:txBody>
      </p:sp>
      <p:sp>
        <p:nvSpPr>
          <p:cNvPr id="557" name="Google Shape;55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connect every tool from today into one workflow. Key points: this is how an analyst turns a messy policy file into a briefing table — load the CSV; clean it (fill the missing budgets, drop the duplicate, fix the region text); merge in the targets lookup; group per region with .agg; then one comparison writes the verdict column; the output is a small table a policy desk can read in ten seconds. Every step used only today's tools. Time: ~5 min. Notebook: Section 7 — Mini Analysis. Classroom question: 'Which of the five steps would break if we skipped cleaning?' Transition: run the whole thing live.</a:t>
            </a:r>
            <a:endParaRPr/>
          </a:p>
        </p:txBody>
      </p:sp>
      <p:sp>
        <p:nvSpPr>
          <p:cNvPr id="570" name="Google Shape;57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run the full mini analysis end to end. Key points: open Section 7; load → clean → merge → group → meets_target → read the final table together and say the verdict out loud; this is the artefact they reproduce for homework. Time: ~12 min. Notebook: Section 7 — Mini Analysis. Classroom question: 'Before the final cell — which region do you bet misses its target?' Transition: back to slides for a debugging drill.</a:t>
            </a:r>
            <a:endParaRPr/>
          </a:p>
        </p:txBody>
      </p:sp>
      <p:sp>
        <p:nvSpPr>
          <p:cNvPr id="600" name="Google Shape;60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chained-assignment trap by fixing it live. Key points: the buggy line filters first, THEN assigns — pandas may hand back a copy, so the edit lands on the copy and the original never changes; the SettingWithCopyWarning is pandas telling you exactly this; the fix is one loc call that selects and assigns in a single safe step. Diagnose before revealing. Time: ~3 min. Notebook: Practice — Debugging (chained assignment). Classroom question: 'Which object actually got modified in the buggy version?' Transition: the full mistakes grid.</a:t>
            </a:r>
            <a:endParaRPr/>
          </a:p>
        </p:txBody>
      </p:sp>
      <p:sp>
        <p:nvSpPr>
          <p:cNvPr id="619" name="Google Shape;61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pre-empt the errors students will actually hit today. Key points: walk each cell quickly — wrong bracket style, and/or in filters, mixing names into loc positions, forgetting to reassign after fillna, grouping messy text before cleaning it, and chained assignment; reassure that every one is normal and fast to fix. Time: ~4 min. Notebook: Practice — Debugging &amp; callouts. Classroom question: 'Which of these have you already hit today?' Transition: a quick quiz to lock it in.</a:t>
            </a:r>
            <a:endParaRPr/>
          </a:p>
        </p:txBody>
      </p:sp>
      <p:sp>
        <p:nvSpPr>
          <p:cNvPr id="644" name="Google Shape;64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quick retrieval check across the whole session. Key points: read each aloud, let the room answer, then reveal. Answers: 1 → df[["a"]]; 2 → loc; 3 → df.isna().sum(); 4 → how='left'; 5 → split, apply, combine. Time: ~5 min. Notebook: Practice — Quick Checks. Classroom question: use each item. Transition: homework, then the recap.</a:t>
            </a:r>
            <a:endParaRPr/>
          </a:p>
        </p:txBody>
      </p:sp>
      <p:sp>
        <p:nvSpPr>
          <p:cNvPr id="679" name="Google Shape;67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set the homework and launch Minor Project 3. Key points: finish the three practice notebooks Q1–Q3 and push them to the GitHub Session-6 folder; start MP3 'Pandas 301' — data wrangling, due end of Weekend 3, it ships its own two CSVs and a full brief, so READ THE BRIEF FIRST; run the Section-7 workflow on a dataset they personally care about. Time: ~2 min. Notebook: Practice sections Q1–Q3. Classroom question: 'What dataset will you run the workflow on?' Transition: recap of everything today.</a:t>
            </a:r>
            <a:endParaRPr/>
          </a:p>
        </p:txBody>
      </p:sp>
      <p:sp>
        <p:nvSpPr>
          <p:cNvPr id="706" name="Google Shape;70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consolidate Session 6 into a memorable checklist. Key points: loaded a CSV into a DataFrame and explored it; selected with loc and iloc and filtered rows; cleaned missing values, duplicates and messy text; grouped and merged to answer real questions — that pipeline IS the core of every analytics job. Celebrate it. Time: ~2 min. Notebook: Session Summary. Classroom question: 'Which tool surprised you most?' Transition: a taste of Session 7.</a:t>
            </a:r>
            <a:endParaRPr/>
          </a:p>
        </p:txBody>
      </p:sp>
      <p:sp>
        <p:nvSpPr>
          <p:cNvPr id="731" name="Google Shape;73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build curiosity for Session 7 without teaching it. Key points: clean tables want to become charts — Matplotlib and Seaborn turn today's grouped summaries into visuals a stakeholder reads instantly; we'll also pull data from APIs and the web instead of waiting for a CSV; remind them of the pre-work — MP3 progress and the Session-6 repo. End on encouragement. Time: ~1 min. Notebook: Next Session Preview. Transition: close, thank everyone.</a:t>
            </a:r>
            <a:endParaRPr/>
          </a:p>
        </p:txBody>
      </p:sp>
      <p:sp>
        <p:nvSpPr>
          <p:cNvPr id="760" name="Google Shape;76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5d18c0da_0_0"/>
          <p:cNvSpPr/>
          <p:nvPr/>
        </p:nvSpPr>
        <p:spPr>
          <a:xfrm>
            <a:off x="13906500" y="-1714500"/>
            <a:ext cx="5905500" cy="5905500"/>
          </a:xfrm>
          <a:prstGeom prst="ellipse">
            <a:avLst/>
          </a:prstGeom>
          <a:solidFill>
            <a:srgbClr val="1F9D57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95d18c0da_0_0"/>
          <p:cNvSpPr/>
          <p:nvPr/>
        </p:nvSpPr>
        <p:spPr>
          <a:xfrm>
            <a:off x="-1333500" y="7429500"/>
            <a:ext cx="4953000" cy="4953000"/>
          </a:xfrm>
          <a:prstGeom prst="ellipse">
            <a:avLst/>
          </a:prstGeom>
          <a:solidFill>
            <a:srgbClr val="CE4A32">
              <a:alpha val="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g3f95d18c0d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95300"/>
            <a:ext cx="1582936" cy="104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f95d18c0da_0_0"/>
          <p:cNvSpPr/>
          <p:nvPr/>
        </p:nvSpPr>
        <p:spPr>
          <a:xfrm>
            <a:off x="1047750" y="2722265"/>
            <a:ext cx="1781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APPLIED AI &amp; ANALYTICS LAB · SESSION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f95d18c0da_0_0"/>
          <p:cNvSpPr/>
          <p:nvPr/>
        </p:nvSpPr>
        <p:spPr>
          <a:xfrm>
            <a:off x="1047750" y="3312825"/>
            <a:ext cx="179592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0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8400"/>
              <a:buFont typeface="Arial"/>
              <a:buNone/>
            </a:pPr>
            <a:r>
              <a:rPr b="1" lang="en-US" sz="8400">
                <a:solidFill>
                  <a:srgbClr val="0C2E1E"/>
                </a:solidFill>
              </a:rPr>
              <a:t>Pandas Core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f95d18c0da_0_0"/>
          <p:cNvSpPr/>
          <p:nvPr/>
        </p:nvSpPr>
        <p:spPr>
          <a:xfrm>
            <a:off x="1047750" y="4760615"/>
            <a:ext cx="1257300" cy="762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f95d18c0da_0_0"/>
          <p:cNvSpPr/>
          <p:nvPr/>
        </p:nvSpPr>
        <p:spPr>
          <a:xfrm>
            <a:off x="1047750" y="5141615"/>
            <a:ext cx="117729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3721"/>
              </a:lnSpc>
              <a:spcBef>
                <a:spcPts val="0"/>
              </a:spcBef>
              <a:spcAft>
                <a:spcPts val="0"/>
              </a:spcAft>
              <a:buClr>
                <a:srgbClr val="C9D6CD"/>
              </a:buClr>
              <a:buSzPts val="2850"/>
              <a:buFont typeface="Arial"/>
              <a:buNone/>
            </a:pPr>
            <a:r>
              <a:rPr lang="en-US" sz="2850">
                <a:solidFill>
                  <a:srgbClr val="47564E"/>
                </a:solidFill>
              </a:rPr>
              <a:t>From arrays to labelled tables - load, clean, group and merge real data.</a:t>
            </a:r>
            <a:endParaRPr sz="2850">
              <a:solidFill>
                <a:srgbClr val="4756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90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850"/>
              <a:buFont typeface="Arial"/>
              <a:buNone/>
            </a:pPr>
            <a:r>
              <a:t/>
            </a:r>
            <a:endParaRPr sz="2850">
              <a:solidFill>
                <a:srgbClr val="47564E"/>
              </a:solidFill>
            </a:endParaRPr>
          </a:p>
        </p:txBody>
      </p:sp>
      <p:sp>
        <p:nvSpPr>
          <p:cNvPr id="23" name="Google Shape;23;g3f95d18c0da_0_0"/>
          <p:cNvSpPr/>
          <p:nvPr/>
        </p:nvSpPr>
        <p:spPr>
          <a:xfrm>
            <a:off x="1047750" y="6840835"/>
            <a:ext cx="2719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f95d18c0da_0_0"/>
          <p:cNvSpPr/>
          <p:nvPr/>
        </p:nvSpPr>
        <p:spPr>
          <a:xfrm>
            <a:off x="1047750" y="7234535"/>
            <a:ext cx="2719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Mr. Varunn Kaushik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f95d18c0da_0_0"/>
          <p:cNvSpPr/>
          <p:nvPr/>
        </p:nvSpPr>
        <p:spPr>
          <a:xfrm>
            <a:off x="4053582" y="6840835"/>
            <a:ext cx="3520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f95d18c0da_0_0"/>
          <p:cNvSpPr/>
          <p:nvPr/>
        </p:nvSpPr>
        <p:spPr>
          <a:xfrm>
            <a:off x="4053582" y="7234535"/>
            <a:ext cx="3520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Live workshop · ~2 hours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f95d18c0da_0_0"/>
          <p:cNvSpPr/>
          <p:nvPr/>
        </p:nvSpPr>
        <p:spPr>
          <a:xfrm>
            <a:off x="7787482" y="6840835"/>
            <a:ext cx="4793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BUILDS 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f95d18c0da_0_0"/>
          <p:cNvSpPr/>
          <p:nvPr/>
        </p:nvSpPr>
        <p:spPr>
          <a:xfrm>
            <a:off x="7787482" y="7234535"/>
            <a:ext cx="4793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b="1" lang="en-US" sz="2250">
                <a:solidFill>
                  <a:schemeClr val="lt1"/>
                </a:solidFill>
                <a:highlight>
                  <a:srgbClr val="0C2E1E"/>
                </a:highlight>
              </a:rPr>
              <a:t>Session 5 · NumPy</a:t>
            </a:r>
            <a:endParaRPr sz="2250">
              <a:solidFill>
                <a:schemeClr val="dk1"/>
              </a:solidFill>
              <a:highlight>
                <a:srgbClr val="0C2E1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t/>
            </a:r>
            <a:endParaRPr b="1" sz="2250">
              <a:solidFill>
                <a:srgbClr val="0C2E1E"/>
              </a:solidFill>
              <a:highlight>
                <a:srgbClr val="0C2E1E"/>
              </a:highlight>
            </a:endParaRPr>
          </a:p>
        </p:txBody>
      </p:sp>
      <p:pic>
        <p:nvPicPr>
          <p:cNvPr descr="preencoded.png" id="29" name="Google Shape;29;g3f95d18c0d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8" cy="266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g3f95d18c0da_0_0"/>
          <p:cNvSpPr/>
          <p:nvPr/>
        </p:nvSpPr>
        <p:spPr>
          <a:xfrm>
            <a:off x="1574502" y="9674225"/>
            <a:ext cx="4108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f95d18c0da_0_0"/>
          <p:cNvSpPr/>
          <p:nvPr/>
        </p:nvSpPr>
        <p:spPr>
          <a:xfrm>
            <a:off x="14366677" y="9674225"/>
            <a:ext cx="2541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95d18c0da_0_0"/>
          <p:cNvSpPr/>
          <p:nvPr/>
        </p:nvSpPr>
        <p:spPr>
          <a:xfrm>
            <a:off x="17060168" y="9674225"/>
            <a:ext cx="256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QUICK 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From arrays to tables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47750" y="2148780"/>
            <a:ext cx="13096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Everything from Session 5 carries across —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pandas column is a NumPy array with a label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47750" y="2939355"/>
            <a:ext cx="4035772" cy="3149947"/>
          </a:xfrm>
          <a:prstGeom prst="roundRect">
            <a:avLst>
              <a:gd fmla="val 604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333500" y="4164806"/>
            <a:ext cx="38106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33500" y="4555331"/>
            <a:ext cx="3810699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values in a grid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74022" y="2939355"/>
            <a:ext cx="4035921" cy="3149947"/>
          </a:xfrm>
          <a:prstGeom prst="roundRect">
            <a:avLst>
              <a:gd fmla="val 604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559772" y="4164806"/>
            <a:ext cx="38108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Indexing &amp; slicing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559772" y="4555331"/>
            <a:ext cx="3810863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reach in by position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47750" y="6279803"/>
            <a:ext cx="4035772" cy="3149947"/>
          </a:xfrm>
          <a:prstGeom prst="roundRect">
            <a:avLst>
              <a:gd fmla="val 604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333500" y="7505254"/>
            <a:ext cx="38106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Boolean masks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33500" y="7895779"/>
            <a:ext cx="3810699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keep what passes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274022" y="6279803"/>
            <a:ext cx="4035921" cy="3149947"/>
          </a:xfrm>
          <a:prstGeom prst="roundRect">
            <a:avLst>
              <a:gd fmla="val 604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559772" y="7505254"/>
            <a:ext cx="38108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Aggregation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559772" y="7895779"/>
            <a:ext cx="3810863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 · mean · axis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729043" y="2939355"/>
            <a:ext cx="7511207" cy="6490395"/>
          </a:xfrm>
          <a:prstGeom prst="roundRect">
            <a:avLst>
              <a:gd fmla="val 3229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186243" y="5457825"/>
            <a:ext cx="1638746" cy="371475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376743" y="5534025"/>
            <a:ext cx="133394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QUICK POLL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186243" y="6057900"/>
            <a:ext cx="6794711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Who pushed their </a:t>
            </a: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Session-5 repo </a:t>
            </a:r>
            <a:r>
              <a:rPr b="0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? Hands up — or drop a ✓ in the chat.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32009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7013585" y="9672638"/>
            <a:ext cx="302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TODAY'S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you'll be able to do today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47750" y="2453580"/>
            <a:ext cx="5232350" cy="336426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428750" y="3548509"/>
            <a:ext cx="4917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28750" y="3977134"/>
            <a:ext cx="4604461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Load a CSV into a DataFrame &amp; explore 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527750" y="2453580"/>
            <a:ext cx="5232350" cy="336426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908750" y="3548509"/>
            <a:ext cx="4917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908750" y="3977134"/>
            <a:ext cx="4604461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Select columns and rows with loc &amp; iloc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007751" y="2453580"/>
            <a:ext cx="5232350" cy="336426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2388751" y="3734991"/>
            <a:ext cx="4917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388751" y="4163616"/>
            <a:ext cx="4917385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Filter rows with conditions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47750" y="6065490"/>
            <a:ext cx="5232350" cy="336426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428750" y="7160419"/>
            <a:ext cx="4917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428750" y="7589044"/>
            <a:ext cx="4604461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 missing values, duplicates &amp; messy text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27750" y="6065490"/>
            <a:ext cx="5232350" cy="336426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908750" y="7346900"/>
            <a:ext cx="4917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908750" y="7775525"/>
            <a:ext cx="4917385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 and aggregate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007751" y="6065490"/>
            <a:ext cx="5232350" cy="3364260"/>
          </a:xfrm>
          <a:prstGeom prst="roundRect">
            <a:avLst>
              <a:gd fmla="val 622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2388751" y="7346900"/>
            <a:ext cx="4917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2388751" y="7775525"/>
            <a:ext cx="4917385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Merge two tables into 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4315629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7009120" y="9672638"/>
            <a:ext cx="3073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WHY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Arrays without labels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raw array makes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you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remember what every column means. A DataFrame remembers for you.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47750" y="2872680"/>
            <a:ext cx="7905750" cy="5566470"/>
          </a:xfrm>
          <a:prstGeom prst="roundRect">
            <a:avLst>
              <a:gd fmla="val 3765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047750" y="2872680"/>
            <a:ext cx="57150" cy="556647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524000" y="3234630"/>
            <a:ext cx="771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NumPy array — remember column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524000" y="3615630"/>
            <a:ext cx="771144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25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Was that employment? Population? A wrong guess fails silently.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524000" y="7280077"/>
            <a:ext cx="7010400" cy="797123"/>
          </a:xfrm>
          <a:prstGeom prst="roundRect">
            <a:avLst>
              <a:gd fmla="val 1672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790700" y="7508677"/>
            <a:ext cx="6687312" cy="3780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217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data[:,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57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employment? population?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334500" y="2872680"/>
            <a:ext cx="7905750" cy="5566470"/>
          </a:xfrm>
          <a:prstGeom prst="roundRect">
            <a:avLst>
              <a:gd fmla="val 376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334500" y="2872680"/>
            <a:ext cx="57150" cy="556647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9810750" y="3234630"/>
            <a:ext cx="771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DataFrame — the columns are named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810750" y="3615630"/>
            <a:ext cx="771144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25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Ask for the column by name — the label travels with the data.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810750" y="7280077"/>
            <a:ext cx="7010400" cy="797123"/>
          </a:xfrm>
          <a:prstGeom prst="roundRect">
            <a:avLst>
              <a:gd fmla="val 1672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0077450" y="7508677"/>
            <a:ext cx="6687312" cy="3780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217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47750" y="8686800"/>
            <a:ext cx="16192500" cy="742950"/>
          </a:xfrm>
          <a:prstGeom prst="roundRect">
            <a:avLst>
              <a:gd fmla="val 2051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166812" y="8896350"/>
            <a:ext cx="15954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DataFrames keep the labels and hold </a:t>
            </a: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mixed types </a:t>
            </a:r>
            <a:r>
              <a:rPr b="0" i="0" lang="en-US" sz="195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— text regions beside numeric budgets.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431250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7005995" y="9672638"/>
            <a:ext cx="3104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12673757" y="3048000"/>
            <a:ext cx="5127918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29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47750" y="403428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47750" y="4567684"/>
            <a:ext cx="13096875" cy="9706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01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DataFrames &amp; Exploring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47750" y="5824091"/>
            <a:ext cx="10058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Load a table and get your bearings.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311610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7005102" y="9672638"/>
            <a:ext cx="31134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DataFrame &amp; Series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whole table is a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; one column of it is a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50" y="5258246"/>
            <a:ext cx="8078986" cy="1747838"/>
          </a:xfrm>
          <a:prstGeom prst="roundRect">
            <a:avLst>
              <a:gd fmla="val 980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447800" y="5582096"/>
            <a:ext cx="7521256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 = pd.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"policy.csv"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col = 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a Series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545836" y="4349055"/>
            <a:ext cx="7694265" cy="1074390"/>
          </a:xfrm>
          <a:prstGeom prst="roundRect">
            <a:avLst>
              <a:gd fmla="val 1418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9850636" y="4577655"/>
            <a:ext cx="779313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850636" y="4901505"/>
            <a:ext cx="779313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whole table — rows plus named columns.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545836" y="5594896"/>
            <a:ext cx="7694265" cy="1074390"/>
          </a:xfrm>
          <a:prstGeom prst="roundRect">
            <a:avLst>
              <a:gd fmla="val 1418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9850636" y="5823496"/>
            <a:ext cx="779313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850636" y="6147346"/>
            <a:ext cx="779313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One column, with an index.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545836" y="6840736"/>
            <a:ext cx="7694265" cy="1074390"/>
          </a:xfrm>
          <a:prstGeom prst="roundRect">
            <a:avLst>
              <a:gd fmla="val 141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9850636" y="7069336"/>
            <a:ext cx="779313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Mixed 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850636" y="7393186"/>
            <a:ext cx="779313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Each column has its own type — text beside numbers.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4308336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7001827" y="9672638"/>
            <a:ext cx="3146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DATA 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From file to DataFrame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 call reads the file, names the columns, and hands you a table.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047750" y="5074890"/>
            <a:ext cx="8078986" cy="2114550"/>
          </a:xfrm>
          <a:prstGeom prst="roundRect">
            <a:avLst>
              <a:gd fmla="val 810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447800" y="5398740"/>
            <a:ext cx="7521256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4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pandas 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 = pd.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"session6_policy_data.csv"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df.shape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(51, 5)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9545836" y="4539555"/>
            <a:ext cx="7694265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9850636" y="4768155"/>
            <a:ext cx="77931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850636" y="5063430"/>
            <a:ext cx="779313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first row becomes the column names.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545836" y="5756821"/>
            <a:ext cx="7694265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9850636" y="5985421"/>
            <a:ext cx="77931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.shape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850636" y="6280696"/>
            <a:ext cx="779313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(rows, columns) — check it first, every time.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545836" y="6974086"/>
            <a:ext cx="7694265" cy="750540"/>
          </a:xfrm>
          <a:prstGeom prst="roundRect">
            <a:avLst>
              <a:gd fmla="val 2030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9850636" y="7202686"/>
            <a:ext cx="779313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Unlike loadtxt </a:t>
            </a:r>
            <a:r>
              <a:rPr b="0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— it handles text and missing values without a fuss.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4328130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7021621" y="9672638"/>
            <a:ext cx="2948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GET ORIENTED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head · tail · info · describe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Four commands to run on every new dataset — before anything else.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047750" y="5242620"/>
            <a:ext cx="7905750" cy="1779091"/>
          </a:xfrm>
          <a:prstGeom prst="roundRect">
            <a:avLst>
              <a:gd fmla="val 963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447800" y="5566470"/>
            <a:ext cx="7342823" cy="11694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first 5 rows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types + non-null counts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describe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numeric summaries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334500" y="4717703"/>
            <a:ext cx="3876675" cy="1466850"/>
          </a:xfrm>
          <a:prstGeom prst="roundRect">
            <a:avLst>
              <a:gd fmla="val 1039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9582150" y="4927253"/>
            <a:ext cx="3719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head · tail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582150" y="5203478"/>
            <a:ext cx="37195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Peek at the first or last five rows.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3363575" y="4717703"/>
            <a:ext cx="3876675" cy="1466850"/>
          </a:xfrm>
          <a:prstGeom prst="roundRect">
            <a:avLst>
              <a:gd fmla="val 1039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3611225" y="4927253"/>
            <a:ext cx="3719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3611225" y="5203478"/>
            <a:ext cx="348281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Spots missing data — here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budget_million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 fewer non-nulls.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334500" y="6336953"/>
            <a:ext cx="3876675" cy="1209675"/>
          </a:xfrm>
          <a:prstGeom prst="roundRect">
            <a:avLst>
              <a:gd fmla="val 1259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9582150" y="6546503"/>
            <a:ext cx="3719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describe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582150" y="6822728"/>
            <a:ext cx="34828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count · mean · min · max per numeric column.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3363575" y="6336953"/>
            <a:ext cx="3876675" cy="1209675"/>
          </a:xfrm>
          <a:prstGeom prst="roundRect">
            <a:avLst>
              <a:gd fmla="val 12598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3611225" y="6546503"/>
            <a:ext cx="348281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Ten seconds of looking saves an hour of debugging.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4311908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7005399" y="9672638"/>
            <a:ext cx="311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047750" y="3091607"/>
            <a:ext cx="243676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295400" y="3291632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1562100" y="3224957"/>
            <a:ext cx="17509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047750" y="3967907"/>
            <a:ext cx="17811750" cy="931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37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047750" y="5280720"/>
            <a:ext cx="6663035" cy="885825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381125" y="5580757"/>
            <a:ext cx="2615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949452" y="5561707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159002" y="5537895"/>
            <a:ext cx="35402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 · DataFrames &amp; Loading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047750" y="6490395"/>
            <a:ext cx="1059561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Upload the CSV → read_csv → head / info / describe → find the missing budgets → Practice.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4308336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7001827" y="9672638"/>
            <a:ext cx="3146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SELECTING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One column, or several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brackets decide what you get back — one name for a Series, a list for a DataFrame.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047750" y="4865489"/>
            <a:ext cx="8436918" cy="2533352"/>
          </a:xfrm>
          <a:prstGeom prst="roundRect">
            <a:avLst>
              <a:gd fmla="val 676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447800" y="5189339"/>
            <a:ext cx="7889925" cy="19237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a Series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]]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a DataFrame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9903768" y="4787205"/>
            <a:ext cx="7336334" cy="1112490"/>
          </a:xfrm>
          <a:prstGeom prst="roundRect">
            <a:avLst>
              <a:gd fmla="val 136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0208568" y="5034855"/>
            <a:ext cx="73994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df["a"]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0208568" y="5358705"/>
            <a:ext cx="7399407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Single brackets → a 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one column.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9903768" y="6071146"/>
            <a:ext cx="7336334" cy="1405830"/>
          </a:xfrm>
          <a:prstGeom prst="roundRect">
            <a:avLst>
              <a:gd fmla="val 10841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0208568" y="6318796"/>
            <a:ext cx="73994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df[["a", "b"]]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0208568" y="6642646"/>
            <a:ext cx="6928536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Double brackets — a </a:t>
            </a: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list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inside — → a </a:t>
            </a: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DataFrame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any number of columns.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4366677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7060168" y="9672638"/>
            <a:ext cx="2562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SELECTING · ROWS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loc = label · iloc = position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047750" y="2110680"/>
            <a:ext cx="130968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Both take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[row, column]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they differ in how you name the row and column.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1047750" y="4870252"/>
            <a:ext cx="8436918" cy="2533352"/>
          </a:xfrm>
          <a:prstGeom prst="roundRect">
            <a:avLst>
              <a:gd fmla="val 676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1447800" y="5194102"/>
            <a:ext cx="7889925" cy="19237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by name -&gt; 92.3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by position -&gt; 92.3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9903768" y="4517678"/>
            <a:ext cx="7336334" cy="1112490"/>
          </a:xfrm>
          <a:prstGeom prst="roundRect">
            <a:avLst>
              <a:gd fmla="val 13699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0208568" y="4765328"/>
            <a:ext cx="73994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0208568" y="5089178"/>
            <a:ext cx="7399407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Labels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index values &amp; column names. Slices are end-</a:t>
            </a: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inclusive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903768" y="5801618"/>
            <a:ext cx="7336334" cy="1112490"/>
          </a:xfrm>
          <a:prstGeom prst="roundRect">
            <a:avLst>
              <a:gd fmla="val 136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0208568" y="6049268"/>
            <a:ext cx="73994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208568" y="6373118"/>
            <a:ext cx="7399407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0-based numbers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like NumPy. Slices are end-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exclusive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903768" y="7085558"/>
            <a:ext cx="7336334" cy="670471"/>
          </a:xfrm>
          <a:prstGeom prst="roundRect">
            <a:avLst>
              <a:gd fmla="val 22730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9903768" y="7085558"/>
            <a:ext cx="57150" cy="670471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10265718" y="7276058"/>
            <a:ext cx="7336542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names go with </a:t>
            </a:r>
            <a:r>
              <a:rPr b="0" i="0" lang="en-US" sz="157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numbers with </a:t>
            </a:r>
            <a:r>
              <a:rPr b="0" i="0" lang="en-US" sz="157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4435584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7129075" y="9672638"/>
            <a:ext cx="187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1047750" y="914400"/>
            <a:ext cx="2839343" cy="41910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1257300" y="1009650"/>
            <a:ext cx="25054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THE OUTPUT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047750" y="1581150"/>
            <a:ext cx="17811750" cy="623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76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Same answer? Why?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047750" y="2319040"/>
            <a:ext cx="12573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Take 30 seconds. Commit to an answer, then reveal.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047750" y="5467796"/>
            <a:ext cx="7886700" cy="1508522"/>
          </a:xfrm>
          <a:prstGeom prst="roundRect">
            <a:avLst>
              <a:gd fmla="val 1136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466850" y="5810696"/>
            <a:ext cx="7285101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8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b="0" i="0" sz="180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8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9353550" y="4864745"/>
            <a:ext cx="7886700" cy="1257300"/>
          </a:xfrm>
          <a:prstGeom prst="roundRect">
            <a:avLst>
              <a:gd fmla="val 1363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9715500" y="5150495"/>
            <a:ext cx="737768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One asks by </a:t>
            </a:r>
            <a:r>
              <a:rPr b="1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the other by </a:t>
            </a:r>
            <a:r>
              <a:rPr b="1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do they land on the same cell?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9353550" y="6331595"/>
            <a:ext cx="7886700" cy="1247775"/>
          </a:xfrm>
          <a:prstGeom prst="roundRect">
            <a:avLst>
              <a:gd fmla="val 1374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9353550" y="6331595"/>
            <a:ext cx="57150" cy="1247775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9772650" y="6617345"/>
            <a:ext cx="78162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REVEAL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9772650" y="6941195"/>
            <a:ext cx="78162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both 92.3 — here the index is 0-based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4387215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7080706" y="9672638"/>
            <a:ext cx="23574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047750" y="3267819"/>
            <a:ext cx="243676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295400" y="34678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1562100" y="3401169"/>
            <a:ext cx="17509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047750" y="4144119"/>
            <a:ext cx="17811750" cy="931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37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1047750" y="5456932"/>
            <a:ext cx="4998244" cy="885825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1381125" y="5756970"/>
            <a:ext cx="2615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3949452" y="5737920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4159002" y="5714107"/>
            <a:ext cx="170897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2 · Selecting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1047750" y="6666607"/>
            <a:ext cx="113157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Select columns → loc by label → iloc by position → Practice.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4384536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17078027" y="9672638"/>
            <a:ext cx="2384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12673757" y="3048000"/>
            <a:ext cx="5127918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29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047750" y="403428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1047750" y="4567684"/>
            <a:ext cx="12573000" cy="9706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01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Cleaning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047750" y="5824091"/>
            <a:ext cx="10058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Real data is messy — filter, then fix.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14381411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17074902" y="9672638"/>
            <a:ext cx="24154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Keep only the rows you want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1047750" y="2110680"/>
            <a:ext cx="1226343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Session-5 boolean mask, on a table — a condition per row, passed back into the brackets.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1047750" y="5288310"/>
            <a:ext cx="8603605" cy="2087761"/>
          </a:xfrm>
          <a:prstGeom prst="roundRect">
            <a:avLst>
              <a:gd fmla="val 8212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1447800" y="5612160"/>
            <a:ext cx="8061613" cy="1478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df[df[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92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df[(df[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"year"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&gt;=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2027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&amp; (df[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10070455" y="5285929"/>
            <a:ext cx="7169646" cy="1102816"/>
          </a:xfrm>
          <a:prstGeom prst="roundRect">
            <a:avLst>
              <a:gd fmla="val 138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10375255" y="5533579"/>
            <a:ext cx="6756847" cy="6456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69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condition makes a 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mask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one True/False per row. The brackets keep the True rows.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10070455" y="6560195"/>
            <a:ext cx="7169646" cy="818108"/>
          </a:xfrm>
          <a:prstGeom prst="roundRect">
            <a:avLst>
              <a:gd fmla="val 18628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10070455" y="6560195"/>
            <a:ext cx="57150" cy="818108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10432405" y="6807845"/>
            <a:ext cx="7153186" cy="3609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69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16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1" i="0" lang="en-US" sz="16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not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or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and wrap each condition in </a:t>
            </a: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( )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5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4380518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17074009" y="9672638"/>
            <a:ext cx="2424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CLEANING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Missing values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Detect first, then decide — fill the gap, or drop the row.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1047750" y="4779615"/>
            <a:ext cx="8603605" cy="2705100"/>
          </a:xfrm>
          <a:prstGeom prst="roundRect">
            <a:avLst>
              <a:gd fmla="val 633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1447800" y="5103465"/>
            <a:ext cx="8061613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isna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5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count per column </a:t>
            </a:r>
            <a:endParaRPr b="0" i="0" sz="150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"budget_million"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fillna 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 </a:t>
            </a:r>
            <a:endParaRPr b="0" i="0" sz="150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"budget_million"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mean 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endParaRPr b="0" i="0" sz="150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t/>
            </a:r>
            <a:endParaRPr sz="1500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dropna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5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drops rows with any NaN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10070455" y="4391918"/>
            <a:ext cx="7169646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10375255" y="4620518"/>
            <a:ext cx="7216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isna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0375255" y="4915793"/>
            <a:ext cx="7216051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Detect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count the gaps per column before deciding.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10070455" y="5609183"/>
            <a:ext cx="7169646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10375255" y="5837783"/>
            <a:ext cx="7216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fillna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10375255" y="6133058"/>
            <a:ext cx="7216051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Fill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replace with the mean or median.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0070455" y="6826448"/>
            <a:ext cx="7169646" cy="1045815"/>
          </a:xfrm>
          <a:prstGeom prst="roundRect">
            <a:avLst>
              <a:gd fmla="val 14572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10070455" y="6826448"/>
            <a:ext cx="57150" cy="1045815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10432405" y="7055048"/>
            <a:ext cx="71531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dropna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10432405" y="7350323"/>
            <a:ext cx="7153186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Drop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removes the whole row. Use with care.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1437724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7070735" y="9672638"/>
            <a:ext cx="2457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CLEANING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Duplicates &amp; messy text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Copies inflate totals; inconsistent spellings split one group into three.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047750" y="5122515"/>
            <a:ext cx="8603605" cy="2019300"/>
          </a:xfrm>
          <a:prstGeom prst="roundRect">
            <a:avLst>
              <a:gd fmla="val 849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1447800" y="5446365"/>
            <a:ext cx="806161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duplicated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5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1 </a:t>
            </a:r>
            <a:endParaRPr b="0" i="0" sz="150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 = df.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drop_duplicates 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b="0" i="0" sz="150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strip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10070455" y="4391918"/>
            <a:ext cx="7169646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10375255" y="4620518"/>
            <a:ext cx="7216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drop_duplicates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10375255" y="4915793"/>
            <a:ext cx="7216051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Remove copies — 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any totals.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10070455" y="5609183"/>
            <a:ext cx="7169646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10375255" y="5837783"/>
            <a:ext cx="7216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.str toolkit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10375255" y="6133058"/>
            <a:ext cx="7216051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strip / lower / title — on a whole column at once.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10070455" y="6826448"/>
            <a:ext cx="7169646" cy="1045815"/>
          </a:xfrm>
          <a:prstGeom prst="roundRect">
            <a:avLst>
              <a:gd fmla="val 1457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10375255" y="7055048"/>
            <a:ext cx="7216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astype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10375255" y="7350323"/>
            <a:ext cx="7216051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Change a column's type when numbers arrive as text.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14394507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17087999" y="9672638"/>
            <a:ext cx="2284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1047750" y="3091607"/>
            <a:ext cx="243676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8"/>
          <p:cNvSpPr/>
          <p:nvPr/>
        </p:nvSpPr>
        <p:spPr>
          <a:xfrm>
            <a:off x="1295400" y="3291632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1562100" y="3224957"/>
            <a:ext cx="17509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1047750" y="3967907"/>
            <a:ext cx="17811750" cy="931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37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1047750" y="5280720"/>
            <a:ext cx="6681936" cy="885825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"/>
          <p:cNvSpPr/>
          <p:nvPr/>
        </p:nvSpPr>
        <p:spPr>
          <a:xfrm>
            <a:off x="1381125" y="5580757"/>
            <a:ext cx="27791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4098131" y="5561707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8"/>
          <p:cNvSpPr/>
          <p:nvPr/>
        </p:nvSpPr>
        <p:spPr>
          <a:xfrm>
            <a:off x="4307681" y="5537895"/>
            <a:ext cx="33974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3 · Filtering · 4 · Cleaning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1047750" y="6490395"/>
            <a:ext cx="1059561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Filter rows → count &amp; fill missing → drop duplicates → clean the region text → Practice.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8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14380964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7074455" y="9672638"/>
            <a:ext cx="2419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"/>
          <p:cNvSpPr/>
          <p:nvPr/>
        </p:nvSpPr>
        <p:spPr>
          <a:xfrm>
            <a:off x="1047750" y="914400"/>
            <a:ext cx="3268266" cy="41910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1257300" y="1009650"/>
            <a:ext cx="2947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THINK BEFORE YOU CODE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1047750" y="1581150"/>
            <a:ext cx="17811750" cy="623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76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6 or 5?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1047750" y="2319040"/>
            <a:ext cx="12573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How many distinct regions — before the text is cleaned, and after?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1047750" y="4936331"/>
            <a:ext cx="7886700" cy="2571452"/>
          </a:xfrm>
          <a:prstGeom prst="roundRect">
            <a:avLst>
              <a:gd fmla="val 666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1466850" y="5279231"/>
            <a:ext cx="7285101" cy="19237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nunique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before cleaning?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strip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and after?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9353550" y="5036195"/>
            <a:ext cx="7886700" cy="914400"/>
          </a:xfrm>
          <a:prstGeom prst="roundRect">
            <a:avLst>
              <a:gd fmla="val 1875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"/>
          <p:cNvSpPr/>
          <p:nvPr/>
        </p:nvSpPr>
        <p:spPr>
          <a:xfrm>
            <a:off x="9715500" y="5321945"/>
            <a:ext cx="78790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trailing space makes </a:t>
            </a: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'north '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different value from </a:t>
            </a: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'North'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9353550" y="6160145"/>
            <a:ext cx="7886700" cy="1247775"/>
          </a:xfrm>
          <a:prstGeom prst="roundRect">
            <a:avLst>
              <a:gd fmla="val 1374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9"/>
          <p:cNvSpPr/>
          <p:nvPr/>
        </p:nvSpPr>
        <p:spPr>
          <a:xfrm>
            <a:off x="9353550" y="6160145"/>
            <a:ext cx="57150" cy="1247775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"/>
          <p:cNvSpPr/>
          <p:nvPr/>
        </p:nvSpPr>
        <p:spPr>
          <a:xfrm>
            <a:off x="9772650" y="6445895"/>
            <a:ext cx="78162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REVEAL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9772650" y="6769745"/>
            <a:ext cx="78162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6 → 5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(the stray 'north ' collapses into 'North')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6" name="Google Shape;4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9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1437724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17070735" y="9672638"/>
            <a:ext cx="2457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"/>
          <p:cNvSpPr/>
          <p:nvPr/>
        </p:nvSpPr>
        <p:spPr>
          <a:xfrm>
            <a:off x="12673757" y="3048000"/>
            <a:ext cx="5127918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29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1047750" y="403428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1047750" y="4567684"/>
            <a:ext cx="13096875" cy="9706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01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Grouping &amp; Merging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1047750" y="5824091"/>
            <a:ext cx="10058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Turn rows into answers.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1432009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17013585" y="9672638"/>
            <a:ext cx="302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GROUPBY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Split · Apply · Combine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 line answers "average employment, per region" — no loop over regions.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1047750" y="5448300"/>
            <a:ext cx="8436918" cy="1367730"/>
          </a:xfrm>
          <a:prstGeom prst="roundRect">
            <a:avLst>
              <a:gd fmla="val 1253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1447800" y="5772150"/>
            <a:ext cx="7889925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sort_values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(ascending=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9903768" y="4076849"/>
            <a:ext cx="7336334" cy="994321"/>
          </a:xfrm>
          <a:prstGeom prst="roundRect">
            <a:avLst>
              <a:gd fmla="val 1532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10189518" y="4286399"/>
            <a:ext cx="744131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10189518" y="4581674"/>
            <a:ext cx="7441317" cy="3180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One bucket of rows per region.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9903768" y="5223570"/>
            <a:ext cx="7336334" cy="994321"/>
          </a:xfrm>
          <a:prstGeom prst="roundRect">
            <a:avLst>
              <a:gd fmla="val 1532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10189518" y="5433120"/>
            <a:ext cx="744131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10189518" y="5728395"/>
            <a:ext cx="7441317" cy="3180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mean runs inside each bucket.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9903768" y="6370290"/>
            <a:ext cx="7336334" cy="994321"/>
          </a:xfrm>
          <a:prstGeom prst="roundRect">
            <a:avLst>
              <a:gd fmla="val 1532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10189518" y="6579840"/>
            <a:ext cx="744131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Combine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10189518" y="6875115"/>
            <a:ext cx="7441317" cy="3180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One small table — one row per region.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9903768" y="7517011"/>
            <a:ext cx="7336334" cy="670471"/>
          </a:xfrm>
          <a:prstGeom prst="roundRect">
            <a:avLst>
              <a:gd fmla="val 2273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"/>
          <p:cNvSpPr/>
          <p:nvPr/>
        </p:nvSpPr>
        <p:spPr>
          <a:xfrm>
            <a:off x="10189518" y="7707511"/>
            <a:ext cx="7441317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is the pandas </a:t>
            </a:r>
            <a:r>
              <a:rPr b="1" i="0" lang="en-US" sz="157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PivotTable</a:t>
            </a: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1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14387215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17080706" y="9672638"/>
            <a:ext cx="23574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GROUPBY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Several summaries at once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1047750" y="2110680"/>
            <a:ext cx="130968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Name each output column yourself —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.agg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computes them in one pass.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1047750" y="5093047"/>
            <a:ext cx="8603605" cy="2087761"/>
          </a:xfrm>
          <a:prstGeom prst="roundRect">
            <a:avLst>
              <a:gd fmla="val 8212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1447800" y="5416897"/>
            <a:ext cx="8061613" cy="1478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agg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avg_employment=(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"employment_rate"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"mean"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), total_population=(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"population"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"sum"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reset_index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10070455" y="4957763"/>
            <a:ext cx="7169646" cy="1102816"/>
          </a:xfrm>
          <a:prstGeom prst="roundRect">
            <a:avLst>
              <a:gd fmla="val 138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/>
          <p:nvPr/>
        </p:nvSpPr>
        <p:spPr>
          <a:xfrm>
            <a:off x="10375255" y="5205413"/>
            <a:ext cx="6756847" cy="6456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69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Each keyword is an 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output column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name=("column", "function")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10070455" y="6232029"/>
            <a:ext cx="7169646" cy="1083915"/>
          </a:xfrm>
          <a:prstGeom prst="roundRect">
            <a:avLst>
              <a:gd fmla="val 1406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10375255" y="6479679"/>
            <a:ext cx="72160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reset_index()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10375255" y="6774954"/>
            <a:ext cx="7216051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Turns the group key back into a column — a clean, flat table.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2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14338995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17032486" y="9672638"/>
            <a:ext cx="28396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"/>
          <p:cNvSpPr/>
          <p:nvPr/>
        </p:nvSpPr>
        <p:spPr>
          <a:xfrm>
            <a:off x="1047750" y="914400"/>
            <a:ext cx="2839343" cy="41910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1257300" y="1009650"/>
            <a:ext cx="25054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THE OUTPUT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1047750" y="1581150"/>
            <a:ext cx="17811750" cy="623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76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How many rows in the result?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1047750" y="2319040"/>
            <a:ext cx="12573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Four rows go in. Commit to a number, then reveal.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1047750" y="4610398"/>
            <a:ext cx="7886700" cy="2143125"/>
          </a:xfrm>
          <a:prstGeom prst="roundRect">
            <a:avLst>
              <a:gd fmla="val 800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3"/>
          <p:cNvSpPr/>
          <p:nvPr/>
        </p:nvSpPr>
        <p:spPr>
          <a:xfrm>
            <a:off x="1371600" y="4858048"/>
            <a:ext cx="39395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Courier New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Courier New"/>
                <a:ea typeface="Courier New"/>
                <a:cs typeface="Courier New"/>
                <a:sym typeface="Courier New"/>
              </a:rPr>
              <a:t>region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5029200" y="4858048"/>
            <a:ext cx="39395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Courier New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Courier New"/>
                <a:ea typeface="Courier New"/>
                <a:cs typeface="Courier New"/>
                <a:sym typeface="Courier New"/>
              </a:rPr>
              <a:t>marks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1371600" y="5172373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East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5029200" y="5172373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1371600" y="5524798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East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5029200" y="5524798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1371600" y="5877223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West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"/>
          <p:cNvSpPr/>
          <p:nvPr/>
        </p:nvSpPr>
        <p:spPr>
          <a:xfrm>
            <a:off x="5029200" y="5877223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70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1371600" y="6229648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West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5029200" y="6229648"/>
            <a:ext cx="39395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1047750" y="6944023"/>
            <a:ext cx="7886700" cy="889546"/>
          </a:xfrm>
          <a:prstGeom prst="roundRect">
            <a:avLst>
              <a:gd fmla="val 19274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1409700" y="7210723"/>
            <a:ext cx="7399401" cy="3942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6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toy.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"marks"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9353550" y="4644777"/>
            <a:ext cx="7886700" cy="1257300"/>
          </a:xfrm>
          <a:prstGeom prst="roundRect">
            <a:avLst>
              <a:gd fmla="val 1363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9715500" y="4930527"/>
            <a:ext cx="737768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GroupBy collapses each region's rows into </a:t>
            </a:r>
            <a:r>
              <a:rPr b="1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the result is smaller than the input.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9353550" y="6111627"/>
            <a:ext cx="7886700" cy="1687711"/>
          </a:xfrm>
          <a:prstGeom prst="roundRect">
            <a:avLst>
              <a:gd fmla="val 10159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/>
          <p:nvPr/>
        </p:nvSpPr>
        <p:spPr>
          <a:xfrm>
            <a:off x="9353550" y="6111627"/>
            <a:ext cx="57150" cy="1687711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/>
          <p:nvPr/>
        </p:nvSpPr>
        <p:spPr>
          <a:xfrm>
            <a:off x="9772650" y="6397377"/>
            <a:ext cx="78162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REVEAL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9772650" y="6721227"/>
            <a:ext cx="7318820" cy="830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one row per region (2), not 4 </a:t>
            </a:r>
            <a:r>
              <a:rPr b="0" i="0" lang="en-US" sz="19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East 85.0 · West 65.0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5" name="Google Shape;5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3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14336167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17029658" y="9672638"/>
            <a:ext cx="2867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Combine two tables on a key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Rows that share the key line up; their columns sit side by side.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1047750" y="5033963"/>
            <a:ext cx="8436918" cy="1329630"/>
          </a:xfrm>
          <a:prstGeom prst="roundRect">
            <a:avLst>
              <a:gd fmla="val 1289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4"/>
          <p:cNvSpPr/>
          <p:nvPr/>
        </p:nvSpPr>
        <p:spPr>
          <a:xfrm>
            <a:off x="1447800" y="5338762"/>
            <a:ext cx="7889925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merge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(df, lookup, on=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"region"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how=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"left"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1047750" y="6554093"/>
            <a:ext cx="8436918" cy="676275"/>
          </a:xfrm>
          <a:prstGeom prst="roundRect">
            <a:avLst>
              <a:gd fmla="val 2253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4"/>
          <p:cNvSpPr/>
          <p:nvPr/>
        </p:nvSpPr>
        <p:spPr>
          <a:xfrm>
            <a:off x="1245046" y="6744593"/>
            <a:ext cx="80423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b="1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VLOOKUP</a:t>
            </a:r>
            <a:r>
              <a:rPr b="0" i="0" lang="en-US" sz="180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, for the whole table.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9903768" y="4391918"/>
            <a:ext cx="7336334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"/>
          <p:cNvSpPr/>
          <p:nvPr/>
        </p:nvSpPr>
        <p:spPr>
          <a:xfrm>
            <a:off x="10208568" y="4620518"/>
            <a:ext cx="73994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10208568" y="4915793"/>
            <a:ext cx="7399407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shared key column — here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region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9903768" y="5609183"/>
            <a:ext cx="7336334" cy="1045815"/>
          </a:xfrm>
          <a:prstGeom prst="roundRect">
            <a:avLst>
              <a:gd fmla="val 1457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4"/>
          <p:cNvSpPr/>
          <p:nvPr/>
        </p:nvSpPr>
        <p:spPr>
          <a:xfrm>
            <a:off x="10208568" y="5837783"/>
            <a:ext cx="73994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how="left"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10208568" y="6133058"/>
            <a:ext cx="7399407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Keep every left row, matched or not.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9903768" y="6826448"/>
            <a:ext cx="7336334" cy="1045815"/>
          </a:xfrm>
          <a:prstGeom prst="roundRect">
            <a:avLst>
              <a:gd fmla="val 14572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4"/>
          <p:cNvSpPr/>
          <p:nvPr/>
        </p:nvSpPr>
        <p:spPr>
          <a:xfrm>
            <a:off x="9903768" y="6826448"/>
            <a:ext cx="57150" cy="1045815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10265718" y="7055048"/>
            <a:ext cx="733654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650"/>
              <a:buFont typeface="Courier New"/>
              <a:buNone/>
            </a:pPr>
            <a:r>
              <a:rPr b="1" i="0" lang="en-US" sz="16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unmatched → NaN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10265718" y="7350323"/>
            <a:ext cx="7336542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Visible, not dropped — you can see what didn't match.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1" name="Google Shape;5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4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14336167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17029658" y="9672638"/>
            <a:ext cx="2867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5"/>
          <p:cNvSpPr/>
          <p:nvPr/>
        </p:nvSpPr>
        <p:spPr>
          <a:xfrm>
            <a:off x="1047750" y="3091607"/>
            <a:ext cx="243676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5"/>
          <p:cNvSpPr/>
          <p:nvPr/>
        </p:nvSpPr>
        <p:spPr>
          <a:xfrm>
            <a:off x="1295400" y="3291632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5"/>
          <p:cNvSpPr/>
          <p:nvPr/>
        </p:nvSpPr>
        <p:spPr>
          <a:xfrm>
            <a:off x="1562100" y="3224957"/>
            <a:ext cx="17509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1047750" y="3967907"/>
            <a:ext cx="17811750" cy="931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37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1047750" y="5280720"/>
            <a:ext cx="6481763" cy="885825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"/>
          <p:cNvSpPr/>
          <p:nvPr/>
        </p:nvSpPr>
        <p:spPr>
          <a:xfrm>
            <a:off x="1381125" y="5580757"/>
            <a:ext cx="27791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4098131" y="5561707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4307681" y="5537895"/>
            <a:ext cx="317730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5 · GroupBy · 6 · Merge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1047750" y="6490395"/>
            <a:ext cx="1059561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Average by region → .agg with two summaries → read the lookup → left-merge → Practice.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0" name="Google Shape;5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5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14332297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17025789" y="9672638"/>
            <a:ext cx="2906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6"/>
          <p:cNvSpPr/>
          <p:nvPr/>
        </p:nvSpPr>
        <p:spPr>
          <a:xfrm>
            <a:off x="12673757" y="3048000"/>
            <a:ext cx="5127918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29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1047750" y="403428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1047750" y="4567684"/>
            <a:ext cx="13096875" cy="9706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01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In &amp; Analysis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1047750" y="5824091"/>
            <a:ext cx="106870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whole loop, on one real dataset.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3" name="Google Shape;5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6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1432902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17022514" y="9672638"/>
            <a:ext cx="2939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BRINGING IT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 policy dataset, analysed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1047750" y="2301180"/>
            <a:ext cx="3116461" cy="9906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1257300" y="2510730"/>
            <a:ext cx="29670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1257300" y="2834580"/>
            <a:ext cx="29670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4316611" y="2301180"/>
            <a:ext cx="3116610" cy="9906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4526161" y="251073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4526161" y="283458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 (fill · dedup · fix text)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7585621" y="2301180"/>
            <a:ext cx="3116610" cy="9906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7795171" y="251073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7795171" y="283458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Merge targets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10854630" y="2301180"/>
            <a:ext cx="3116610" cy="9906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11064180" y="251073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11064180" y="283458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 per region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14123640" y="2301180"/>
            <a:ext cx="3116610" cy="990600"/>
          </a:xfrm>
          <a:prstGeom prst="roundRect">
            <a:avLst>
              <a:gd fmla="val 1538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14333190" y="251073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14333190" y="2834580"/>
            <a:ext cx="29672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Judge vs target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1047750" y="5838825"/>
            <a:ext cx="8436918" cy="1329630"/>
          </a:xfrm>
          <a:prstGeom prst="roundRect">
            <a:avLst>
              <a:gd fmla="val 1289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1447800" y="6143625"/>
            <a:ext cx="7889925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report[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"meets_target"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= (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6434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report[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"avg_employment"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&gt;= report[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"target"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9903768" y="5820817"/>
            <a:ext cx="7336334" cy="1365647"/>
          </a:xfrm>
          <a:prstGeom prst="roundRect">
            <a:avLst>
              <a:gd fmla="val 12554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10284768" y="6144667"/>
            <a:ext cx="6771564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61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output is a small table a policy desk can read in </a:t>
            </a: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ten seconds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— one row per region, with a verdict column.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3" name="Google Shape;5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7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14349264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17042755" y="9672638"/>
            <a:ext cx="2736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8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1047750" y="3267819"/>
            <a:ext cx="243676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1295400" y="34678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8"/>
          <p:cNvSpPr/>
          <p:nvPr/>
        </p:nvSpPr>
        <p:spPr>
          <a:xfrm>
            <a:off x="1562100" y="3401169"/>
            <a:ext cx="17509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1047750" y="4144119"/>
            <a:ext cx="17811750" cy="931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37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1047750" y="5456932"/>
            <a:ext cx="5455890" cy="885825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8"/>
          <p:cNvSpPr/>
          <p:nvPr/>
        </p:nvSpPr>
        <p:spPr>
          <a:xfrm>
            <a:off x="1381125" y="5756970"/>
            <a:ext cx="2615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3949452" y="5737920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8"/>
          <p:cNvSpPr/>
          <p:nvPr/>
        </p:nvSpPr>
        <p:spPr>
          <a:xfrm>
            <a:off x="4159002" y="5714107"/>
            <a:ext cx="22123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7 · Mini 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1047750" y="6666607"/>
            <a:ext cx="113157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load → clean → merge → group → meets_target → read the table.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2" name="Google Shape;6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8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8"/>
          <p:cNvSpPr/>
          <p:nvPr/>
        </p:nvSpPr>
        <p:spPr>
          <a:xfrm>
            <a:off x="14335720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17029212" y="9672638"/>
            <a:ext cx="2872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9"/>
          <p:cNvSpPr/>
          <p:nvPr/>
        </p:nvSpPr>
        <p:spPr>
          <a:xfrm>
            <a:off x="1047750" y="914400"/>
            <a:ext cx="2451646" cy="4191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"/>
          <p:cNvSpPr/>
          <p:nvPr/>
        </p:nvSpPr>
        <p:spPr>
          <a:xfrm>
            <a:off x="1257300" y="1009650"/>
            <a:ext cx="21087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DEBUG THIS CODE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1047750" y="1581150"/>
            <a:ext cx="17811750" cy="623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76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Why didn't the change stick?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1047750" y="2319040"/>
            <a:ext cx="13096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code ran without an error — but the DataFrame never changed.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1047750" y="4981873"/>
            <a:ext cx="7886700" cy="2461171"/>
          </a:xfrm>
          <a:prstGeom prst="roundRect">
            <a:avLst>
              <a:gd fmla="val 6966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/>
          <p:nvPr/>
        </p:nvSpPr>
        <p:spPr>
          <a:xfrm>
            <a:off x="1047750" y="4981873"/>
            <a:ext cx="57150" cy="2461171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1466850" y="5267623"/>
            <a:ext cx="78162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Buggy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1466850" y="5648623"/>
            <a:ext cx="7105650" cy="1066800"/>
          </a:xfrm>
          <a:prstGeom prst="roundRect">
            <a:avLst>
              <a:gd fmla="val 125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1733550" y="5858173"/>
            <a:ext cx="67854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df[df[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"x"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b="0" i="0" lang="en-US" sz="15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"y"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5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0" i="0" lang="en-US" sz="15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SettingWithCopyWarning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1466850" y="6867823"/>
            <a:ext cx="7816215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Filter-then-assign edits a </a:t>
            </a:r>
            <a:r>
              <a:rPr b="1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copy </a:t>
            </a: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the original is untouched.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9353550" y="5143798"/>
            <a:ext cx="7886700" cy="2137321"/>
          </a:xfrm>
          <a:prstGeom prst="roundRect">
            <a:avLst>
              <a:gd fmla="val 802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/>
          <p:nvPr/>
        </p:nvSpPr>
        <p:spPr>
          <a:xfrm>
            <a:off x="9353550" y="5143798"/>
            <a:ext cx="57150" cy="2137321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9"/>
          <p:cNvSpPr/>
          <p:nvPr/>
        </p:nvSpPr>
        <p:spPr>
          <a:xfrm>
            <a:off x="9772650" y="5429548"/>
            <a:ext cx="78162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9772650" y="5810548"/>
            <a:ext cx="7105650" cy="742950"/>
          </a:xfrm>
          <a:prstGeom prst="roundRect">
            <a:avLst>
              <a:gd fmla="val 1794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9"/>
          <p:cNvSpPr/>
          <p:nvPr/>
        </p:nvSpPr>
        <p:spPr>
          <a:xfrm>
            <a:off x="10039350" y="6020098"/>
            <a:ext cx="678542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df.</a:t>
            </a:r>
            <a:r>
              <a:rPr b="0" i="0" lang="en-US" sz="15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[df[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"x"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b="0" i="0" lang="en-US" sz="15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5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"y"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50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9772650" y="6705898"/>
            <a:ext cx="7816215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157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loc </a:t>
            </a: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call selects and assigns in a single safe step.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7" name="Google Shape;6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9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14330809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17024300" y="9672638"/>
            <a:ext cx="292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WATCH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Common beginner mistakes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1047750" y="237738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1333500" y="3317825"/>
            <a:ext cx="2786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1707356" y="3222575"/>
            <a:ext cx="28348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df["a","b"]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1707356" y="3508325"/>
            <a:ext cx="28348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Use a list —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df[["a","b"]]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9239250" y="237738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9525000" y="3317825"/>
            <a:ext cx="2786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9898856" y="3222575"/>
            <a:ext cx="190199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or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in a filter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9898856" y="3508325"/>
            <a:ext cx="190199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with ( 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1047750" y="479167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1333500" y="5732115"/>
            <a:ext cx="2786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1707356" y="5636865"/>
            <a:ext cx="36291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df.loc[0, 2]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1707356" y="5922615"/>
            <a:ext cx="36291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Names go with loc, numbers with iloc.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9239250" y="479167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9525000" y="5732115"/>
            <a:ext cx="2786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9898856" y="5641628"/>
            <a:ext cx="36461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Forgot to reassign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9898856" y="5917853"/>
            <a:ext cx="36461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df["x"] = df["x"].fillna(...)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1047750" y="720596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>
            <a:off x="1333500" y="8146405"/>
            <a:ext cx="2786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1707356" y="8055918"/>
            <a:ext cx="412535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Grouping on messy text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1707356" y="8332143"/>
            <a:ext cx="41253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Clean first — or one region becomes three.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9239250" y="720596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9525000" y="8146405"/>
            <a:ext cx="2786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9898856" y="8055918"/>
            <a:ext cx="28917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Chained assignment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9898856" y="8332143"/>
            <a:ext cx="28917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df.loc[mask, "col"] = 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2" name="Google Shape;6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0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0"/>
          <p:cNvSpPr/>
          <p:nvPr/>
        </p:nvSpPr>
        <p:spPr>
          <a:xfrm>
            <a:off x="14315629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17009120" y="9672638"/>
            <a:ext cx="3073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1"/>
          <p:cNvSpPr/>
          <p:nvPr/>
        </p:nvSpPr>
        <p:spPr>
          <a:xfrm>
            <a:off x="1047750" y="914400"/>
            <a:ext cx="1482775" cy="41910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1257300" y="1009650"/>
            <a:ext cx="1139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QUIZ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1047750" y="1562100"/>
            <a:ext cx="17811750" cy="603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2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Answer before the reveal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1047750" y="2451348"/>
            <a:ext cx="7991475" cy="2199084"/>
          </a:xfrm>
          <a:prstGeom prst="roundRect">
            <a:avLst>
              <a:gd fmla="val 779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1390650" y="3207990"/>
            <a:ext cx="80362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df["a"]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df[["a"]]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— which gives a DataFrame?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1390650" y="3617565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df[["a"]]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9248775" y="2451348"/>
            <a:ext cx="7991475" cy="2199084"/>
          </a:xfrm>
          <a:prstGeom prst="roundRect">
            <a:avLst>
              <a:gd fmla="val 779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9591675" y="3207990"/>
            <a:ext cx="80362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2. Selecting by names —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loc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9591675" y="3617565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loc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1047750" y="4859982"/>
            <a:ext cx="7991475" cy="2180034"/>
          </a:xfrm>
          <a:prstGeom prst="roundRect">
            <a:avLst>
              <a:gd fmla="val 786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1"/>
          <p:cNvSpPr/>
          <p:nvPr/>
        </p:nvSpPr>
        <p:spPr>
          <a:xfrm>
            <a:off x="1390650" y="5616625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3. Count missing values per column?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1390650" y="6007150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df.isna().sum()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9248775" y="4859982"/>
            <a:ext cx="7991475" cy="2180034"/>
          </a:xfrm>
          <a:prstGeom prst="roundRect">
            <a:avLst>
              <a:gd fmla="val 786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1"/>
          <p:cNvSpPr/>
          <p:nvPr/>
        </p:nvSpPr>
        <p:spPr>
          <a:xfrm>
            <a:off x="9591675" y="5616625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4. Which join keeps all left rows?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9591675" y="6007150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how="left"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1047750" y="7249567"/>
            <a:ext cx="16192500" cy="2180183"/>
          </a:xfrm>
          <a:prstGeom prst="roundRect">
            <a:avLst>
              <a:gd fmla="val 7864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1"/>
          <p:cNvSpPr/>
          <p:nvPr/>
        </p:nvSpPr>
        <p:spPr>
          <a:xfrm>
            <a:off x="1390650" y="8006209"/>
            <a:ext cx="170573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The three groupby steps?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1390650" y="8396734"/>
            <a:ext cx="170573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→ split, apply, combine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9" name="Google Shape;6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1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/>
          <p:nvPr/>
        </p:nvSpPr>
        <p:spPr>
          <a:xfrm>
            <a:off x="14387661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17081153" y="9672638"/>
            <a:ext cx="2352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BEFORE NEXT SESSION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homework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1047750" y="2377380"/>
            <a:ext cx="5245001" cy="6214170"/>
          </a:xfrm>
          <a:prstGeom prst="roundRect">
            <a:avLst>
              <a:gd fmla="val 363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2"/>
          <p:cNvSpPr/>
          <p:nvPr/>
        </p:nvSpPr>
        <p:spPr>
          <a:xfrm>
            <a:off x="1428750" y="2720280"/>
            <a:ext cx="49313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2"/>
          <p:cNvSpPr/>
          <p:nvPr/>
        </p:nvSpPr>
        <p:spPr>
          <a:xfrm>
            <a:off x="1428750" y="3101280"/>
            <a:ext cx="49313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Finish the practice notebooks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1428750" y="3491805"/>
            <a:ext cx="4617491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Complete Q1–Q3 and push them to your GitHub </a:t>
            </a: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Session-6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folder.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2"/>
          <p:cNvSpPr/>
          <p:nvPr/>
        </p:nvSpPr>
        <p:spPr>
          <a:xfrm>
            <a:off x="6521351" y="2377380"/>
            <a:ext cx="5245150" cy="6214170"/>
          </a:xfrm>
          <a:prstGeom prst="roundRect">
            <a:avLst>
              <a:gd fmla="val 3632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2"/>
          <p:cNvSpPr/>
          <p:nvPr/>
        </p:nvSpPr>
        <p:spPr>
          <a:xfrm>
            <a:off x="6902351" y="2720280"/>
            <a:ext cx="49314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2"/>
          <p:cNvSpPr/>
          <p:nvPr/>
        </p:nvSpPr>
        <p:spPr>
          <a:xfrm>
            <a:off x="6902351" y="3101280"/>
            <a:ext cx="49314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Minor Project 3 — "Pandas 301"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2"/>
          <p:cNvSpPr/>
          <p:nvPr/>
        </p:nvSpPr>
        <p:spPr>
          <a:xfrm>
            <a:off x="6902351" y="3491805"/>
            <a:ext cx="493146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wrangling · due end of </a:t>
            </a:r>
            <a:r>
              <a:rPr b="1" i="0" lang="en-US" sz="16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Weekend 3</a:t>
            </a: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2"/>
          <p:cNvSpPr/>
          <p:nvPr/>
        </p:nvSpPr>
        <p:spPr>
          <a:xfrm>
            <a:off x="11995100" y="2377380"/>
            <a:ext cx="5245150" cy="6214170"/>
          </a:xfrm>
          <a:prstGeom prst="roundRect">
            <a:avLst>
              <a:gd fmla="val 363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2"/>
          <p:cNvSpPr/>
          <p:nvPr/>
        </p:nvSpPr>
        <p:spPr>
          <a:xfrm>
            <a:off x="12376100" y="2720280"/>
            <a:ext cx="49314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/>
          <p:nvPr/>
        </p:nvSpPr>
        <p:spPr>
          <a:xfrm>
            <a:off x="12376100" y="3101280"/>
            <a:ext cx="49314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Run the workflow on your own data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2"/>
          <p:cNvSpPr/>
          <p:nvPr/>
        </p:nvSpPr>
        <p:spPr>
          <a:xfrm>
            <a:off x="12376100" y="3491805"/>
            <a:ext cx="4617644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6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Repeat the Section-7 loop on a dataset you care about.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2"/>
          <p:cNvSpPr/>
          <p:nvPr/>
        </p:nvSpPr>
        <p:spPr>
          <a:xfrm>
            <a:off x="1047750" y="8801100"/>
            <a:ext cx="16192500" cy="628650"/>
          </a:xfrm>
          <a:prstGeom prst="roundRect">
            <a:avLst>
              <a:gd fmla="val 2121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1371600" y="8972550"/>
            <a:ext cx="1603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MP3 ships its own two CSVs and a full brief —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read the brief first</a:t>
            </a:r>
            <a:r>
              <a:rPr b="0" i="0" lang="en-US" sz="1725" u="none" cap="none" strike="noStrik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4" name="Google Shape;7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2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2"/>
          <p:cNvSpPr/>
          <p:nvPr/>
        </p:nvSpPr>
        <p:spPr>
          <a:xfrm>
            <a:off x="14336167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2"/>
          <p:cNvSpPr/>
          <p:nvPr/>
        </p:nvSpPr>
        <p:spPr>
          <a:xfrm>
            <a:off x="17029658" y="9672638"/>
            <a:ext cx="2867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LOOK HOW FAR YOU CAME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17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1047750" y="2377380"/>
            <a:ext cx="7991475" cy="2854672"/>
          </a:xfrm>
          <a:prstGeom prst="roundRect">
            <a:avLst>
              <a:gd fmla="val 600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3"/>
          <p:cNvSpPr/>
          <p:nvPr/>
        </p:nvSpPr>
        <p:spPr>
          <a:xfrm>
            <a:off x="1409700" y="3614142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3"/>
          <p:cNvSpPr/>
          <p:nvPr/>
        </p:nvSpPr>
        <p:spPr>
          <a:xfrm>
            <a:off x="1371600" y="361414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1981200" y="3631109"/>
            <a:ext cx="5782761" cy="385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58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Loaded a CSV into a DataFrame &amp; explored 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/>
          <p:nvPr/>
        </p:nvSpPr>
        <p:spPr>
          <a:xfrm>
            <a:off x="9248775" y="2377380"/>
            <a:ext cx="7991475" cy="2854672"/>
          </a:xfrm>
          <a:prstGeom prst="roundRect">
            <a:avLst>
              <a:gd fmla="val 600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3"/>
          <p:cNvSpPr/>
          <p:nvPr/>
        </p:nvSpPr>
        <p:spPr>
          <a:xfrm>
            <a:off x="9610725" y="3614142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3"/>
          <p:cNvSpPr/>
          <p:nvPr/>
        </p:nvSpPr>
        <p:spPr>
          <a:xfrm>
            <a:off x="9572625" y="361414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/>
          <p:nvPr/>
        </p:nvSpPr>
        <p:spPr>
          <a:xfrm>
            <a:off x="10182225" y="3631109"/>
            <a:ext cx="5258395" cy="385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58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Selected with loc &amp; iloc, and filtered rows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3"/>
          <p:cNvSpPr/>
          <p:nvPr/>
        </p:nvSpPr>
        <p:spPr>
          <a:xfrm>
            <a:off x="1047750" y="5441603"/>
            <a:ext cx="7991475" cy="2854672"/>
          </a:xfrm>
          <a:prstGeom prst="roundRect">
            <a:avLst>
              <a:gd fmla="val 600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3"/>
          <p:cNvSpPr/>
          <p:nvPr/>
        </p:nvSpPr>
        <p:spPr>
          <a:xfrm>
            <a:off x="1409700" y="6678364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3"/>
          <p:cNvSpPr/>
          <p:nvPr/>
        </p:nvSpPr>
        <p:spPr>
          <a:xfrm>
            <a:off x="1371600" y="6678364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3"/>
          <p:cNvSpPr/>
          <p:nvPr/>
        </p:nvSpPr>
        <p:spPr>
          <a:xfrm>
            <a:off x="1981200" y="6695331"/>
            <a:ext cx="6206445" cy="385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58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Cleaned missing values, duplicates &amp; messy text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3"/>
          <p:cNvSpPr/>
          <p:nvPr/>
        </p:nvSpPr>
        <p:spPr>
          <a:xfrm>
            <a:off x="9248775" y="5441603"/>
            <a:ext cx="7991475" cy="2854672"/>
          </a:xfrm>
          <a:prstGeom prst="roundRect">
            <a:avLst>
              <a:gd fmla="val 600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3"/>
          <p:cNvSpPr/>
          <p:nvPr/>
        </p:nvSpPr>
        <p:spPr>
          <a:xfrm>
            <a:off x="9610725" y="6678364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3"/>
          <p:cNvSpPr/>
          <p:nvPr/>
        </p:nvSpPr>
        <p:spPr>
          <a:xfrm>
            <a:off x="9572625" y="6678364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3"/>
          <p:cNvSpPr/>
          <p:nvPr/>
        </p:nvSpPr>
        <p:spPr>
          <a:xfrm>
            <a:off x="10182225" y="6695331"/>
            <a:ext cx="5946145" cy="385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58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Grouped and merged to answer real questions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3"/>
          <p:cNvSpPr/>
          <p:nvPr/>
        </p:nvSpPr>
        <p:spPr>
          <a:xfrm>
            <a:off x="1047750" y="8505825"/>
            <a:ext cx="16192500" cy="923925"/>
          </a:xfrm>
          <a:prstGeom prst="roundRect">
            <a:avLst>
              <a:gd fmla="val 1855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3"/>
          <p:cNvSpPr/>
          <p:nvPr/>
        </p:nvSpPr>
        <p:spPr>
          <a:xfrm>
            <a:off x="1185863" y="8791575"/>
            <a:ext cx="159162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You can now take a messy file and turn it into a clean, joined, summarised table — </a:t>
            </a:r>
            <a:r>
              <a:rPr b="0" i="0" lang="en-US" sz="21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the core of every analytics job.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3" name="Google Shape;7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3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14333488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17026979" y="9672638"/>
            <a:ext cx="2894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4"/>
          <p:cNvSpPr/>
          <p:nvPr/>
        </p:nvSpPr>
        <p:spPr>
          <a:xfrm>
            <a:off x="14097000" y="6477000"/>
            <a:ext cx="5715000" cy="5715000"/>
          </a:xfrm>
          <a:prstGeom prst="ellipse">
            <a:avLst/>
          </a:prstGeom>
          <a:solidFill>
            <a:srgbClr val="CE4A32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3" name="Google Shape;7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533400"/>
            <a:ext cx="1582936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34"/>
          <p:cNvSpPr/>
          <p:nvPr/>
        </p:nvSpPr>
        <p:spPr>
          <a:xfrm>
            <a:off x="1047750" y="3259336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NEXT UP · SESSION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1047750" y="3792736"/>
            <a:ext cx="13620750" cy="901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863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Visualisation &amp; Data Acquisition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/>
          <p:nvPr/>
        </p:nvSpPr>
        <p:spPr>
          <a:xfrm>
            <a:off x="1047750" y="4960739"/>
            <a:ext cx="11734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Turn clean tables into charts, and pull data from APIs and the web.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1047750" y="5779889"/>
            <a:ext cx="2765971" cy="561975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>
            <a:off x="1314450" y="5913239"/>
            <a:ext cx="2315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Matplotlib &amp; Seaborn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3966121" y="5779889"/>
            <a:ext cx="2254597" cy="561975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4"/>
          <p:cNvSpPr/>
          <p:nvPr/>
        </p:nvSpPr>
        <p:spPr>
          <a:xfrm>
            <a:off x="4232821" y="5913239"/>
            <a:ext cx="17973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storytelling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6373118" y="5779889"/>
            <a:ext cx="2682329" cy="561975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4"/>
          <p:cNvSpPr/>
          <p:nvPr/>
        </p:nvSpPr>
        <p:spPr>
          <a:xfrm>
            <a:off x="6639818" y="5913239"/>
            <a:ext cx="22293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APIs &amp; web scraping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4"/>
          <p:cNvSpPr/>
          <p:nvPr/>
        </p:nvSpPr>
        <p:spPr>
          <a:xfrm>
            <a:off x="1047750" y="676096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Pre-work: finish MP3 progress and push your Session-6 repo.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4" name="Google Shape;7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87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4"/>
          <p:cNvSpPr/>
          <p:nvPr/>
        </p:nvSpPr>
        <p:spPr>
          <a:xfrm>
            <a:off x="1574453" y="9672638"/>
            <a:ext cx="4108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/>
          <p:nvPr/>
        </p:nvSpPr>
        <p:spPr>
          <a:xfrm>
            <a:off x="14330363" y="9672638"/>
            <a:ext cx="2541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4"/>
          <p:cNvSpPr/>
          <p:nvPr/>
        </p:nvSpPr>
        <p:spPr>
          <a:xfrm>
            <a:off x="17023854" y="9672638"/>
            <a:ext cx="29259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2026-07-24T14:20:01Z</dcterms:created>
  <dc:creator>PptxGenJS</dc:creator>
</cp:coreProperties>
</file>